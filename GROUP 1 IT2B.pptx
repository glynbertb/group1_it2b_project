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9" r:id="rId5"/>
    <p:sldId id="26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282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42A7-2848-9C3E-401C-1B9F696D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E19E0-CC47-982F-FDEE-A39063375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07B72-3B45-0311-71D0-555DB097C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99DD3-05E2-BD33-C26B-20C16AABCD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37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PITCH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08273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Delivery &amp; Container Asset Tracking System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68680" y="3322631"/>
            <a:ext cx="2377440" cy="0"/>
          </a:xfrm>
          <a:prstGeom prst="line">
            <a:avLst/>
          </a:prstGeom>
          <a:noFill/>
          <a:ln w="25400">
            <a:solidFill>
              <a:srgbClr val="8FC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573065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rule-driven console system for managing recurring deliveries and reusable container assets.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514896"/>
            <a:ext cx="7680960" cy="1671299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FC3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872446"/>
            <a:ext cx="7223760" cy="113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PH" sz="1200" dirty="0">
                <a:solidFill>
                  <a:schemeClr val="bg1"/>
                </a:solidFill>
              </a:rPr>
              <a:t>BAQUIRAN GLYNBERT P. </a:t>
            </a:r>
          </a:p>
          <a:p>
            <a:pPr marL="228600" indent="-228600">
              <a:buFont typeface="+mj-lt"/>
              <a:buAutoNum type="arabicPeriod"/>
            </a:pPr>
            <a:r>
              <a:rPr lang="en-PH" sz="1200" dirty="0">
                <a:solidFill>
                  <a:schemeClr val="bg1"/>
                </a:solidFill>
              </a:rPr>
              <a:t>GERALDEZ JHUNREY B.</a:t>
            </a:r>
          </a:p>
          <a:p>
            <a:pPr marL="228600" indent="-228600">
              <a:buFont typeface="+mj-lt"/>
              <a:buAutoNum type="arabicPeriod"/>
            </a:pPr>
            <a:r>
              <a:rPr lang="en-PH" sz="1200" dirty="0">
                <a:solidFill>
                  <a:schemeClr val="bg1"/>
                </a:solidFill>
              </a:rPr>
              <a:t>CABAÑERO EDRIAN B. </a:t>
            </a:r>
          </a:p>
          <a:p>
            <a:pPr marL="228600" indent="-228600">
              <a:buFont typeface="+mj-lt"/>
              <a:buAutoNum type="arabicPeriod"/>
            </a:pPr>
            <a:r>
              <a:rPr lang="en-PH" sz="1200" dirty="0">
                <a:solidFill>
                  <a:schemeClr val="bg1"/>
                </a:solidFill>
              </a:rPr>
              <a:t>MONCEDA JOHN MHICO G. </a:t>
            </a:r>
          </a:p>
          <a:p>
            <a:pPr marL="228600" indent="-228600">
              <a:buFont typeface="+mj-lt"/>
              <a:buAutoNum type="arabicPeriod"/>
            </a:pPr>
            <a:r>
              <a:rPr lang="en-PH" sz="1200" dirty="0">
                <a:solidFill>
                  <a:schemeClr val="bg1"/>
                </a:solidFill>
              </a:rPr>
              <a:t>TAPIC, ARJNE KYLE A.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C37CF02-E174-9634-B678-C8487A7555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IS NEEDED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Scenario &amp; User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blurRad="127000" dist="38100" dir="5400000" algn="bl" rotWithShape="0">
              <a:srgbClr val="1C729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385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965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57860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9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delivers 5-gallon purified water containers to homes on a weekly subscription. Every container is a physical, reusable asset that must travel from warehouse → customer → back to warehouse, in sync with each customer's billing cycle.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4114800"/>
            <a:ext cx="5029200" cy="0"/>
          </a:xfrm>
          <a:prstGeom prst="line">
            <a:avLst/>
          </a:prstGeom>
          <a:noFill/>
          <a:ln w="12700">
            <a:solidFill>
              <a:srgbClr val="E4EC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51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tracking system: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57200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go missing with no record of who last held them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and refunds are miscalculated by hand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are missed when due dates aren't tracked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ledger shows a customer's balance or status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20574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240280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21854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Admin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496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subscriptions, inventory, and the credit ledger.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32004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3383280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3284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Personnel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639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off full containers, picks up empties, updates status.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43434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4526280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29400" y="4526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44714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Subscriber-Customer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4782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recurring deliveries and holds a container between visits.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3257A226-570C-BF82-CCAA-41027F9DAD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ext"/>
          <p:cNvSpPr txBox="1"/>
          <p:nvPr/>
        </p:nvSpPr>
        <p:spPr>
          <a:xfrm>
            <a:off x="6400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"/>
          <p:cNvSpPr txBox="1"/>
          <p:nvPr/>
        </p:nvSpPr>
        <p:spPr>
          <a:xfrm>
            <a:off x="640080" y="69494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&amp; Process Flow</a:t>
            </a:r>
            <a:endParaRPr lang="en-US" sz="2800" dirty="0"/>
          </a:p>
        </p:txBody>
      </p:sp>
      <p:sp>
        <p:nvSpPr>
          <p:cNvPr id="4" name="Text"/>
          <p:cNvSpPr txBox="1"/>
          <p:nvPr/>
        </p:nvSpPr>
        <p:spPr>
          <a:xfrm>
            <a:off x="640080" y="1280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 power a straightforward four-phase flow, from subscription to reporting.</a:t>
            </a:r>
            <a:endParaRPr lang="en-US" sz="1250" dirty="0"/>
          </a:p>
        </p:txBody>
      </p:sp>
      <p:sp>
        <p:nvSpPr>
          <p:cNvPr id="5" name="Text"/>
          <p:cNvSpPr txBox="1"/>
          <p:nvPr/>
        </p:nvSpPr>
        <p:spPr>
          <a:xfrm>
            <a:off x="64008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50" dirty="0"/>
          </a:p>
        </p:txBody>
      </p:sp>
      <p:sp>
        <p:nvSpPr>
          <p:cNvPr id="6" name="Shape"/>
          <p:cNvSpPr/>
          <p:nvPr/>
        </p:nvSpPr>
        <p:spPr>
          <a:xfrm>
            <a:off x="640080" y="2286000"/>
            <a:ext cx="5120640" cy="512064"/>
          </a:xfrm>
          <a:prstGeom prst="roundRect">
            <a:avLst>
              <a:gd name="adj" fmla="val 18000"/>
            </a:avLst>
          </a:prstGeom>
          <a:solidFill>
            <a:srgbClr val="F4F8FB"/>
          </a:solidFill>
          <a:ln/>
        </p:spPr>
      </p:sp>
      <p:sp>
        <p:nvSpPr>
          <p:cNvPr id="7" name="Ellipse"/>
          <p:cNvSpPr/>
          <p:nvPr/>
        </p:nvSpPr>
        <p:spPr>
          <a:xfrm>
            <a:off x="786384" y="245973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1097280" y="228600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300" dirty="0"/>
          </a:p>
        </p:txBody>
      </p:sp>
      <p:sp>
        <p:nvSpPr>
          <p:cNvPr id="9" name="Shape"/>
          <p:cNvSpPr/>
          <p:nvPr/>
        </p:nvSpPr>
        <p:spPr>
          <a:xfrm>
            <a:off x="640080" y="2926080"/>
            <a:ext cx="5120640" cy="512064"/>
          </a:xfrm>
          <a:prstGeom prst="roundRect">
            <a:avLst>
              <a:gd name="adj" fmla="val 18000"/>
            </a:avLst>
          </a:prstGeom>
          <a:solidFill>
            <a:srgbClr val="F4F8FB"/>
          </a:solidFill>
          <a:ln/>
        </p:spPr>
      </p:sp>
      <p:sp>
        <p:nvSpPr>
          <p:cNvPr id="10" name="Ellipse"/>
          <p:cNvSpPr/>
          <p:nvPr/>
        </p:nvSpPr>
        <p:spPr>
          <a:xfrm>
            <a:off x="786384" y="309981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1097280" y="292608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Management</a:t>
            </a:r>
            <a:endParaRPr lang="en-US" sz="1300" dirty="0"/>
          </a:p>
        </p:txBody>
      </p:sp>
      <p:sp>
        <p:nvSpPr>
          <p:cNvPr id="12" name="Shape"/>
          <p:cNvSpPr/>
          <p:nvPr/>
        </p:nvSpPr>
        <p:spPr>
          <a:xfrm>
            <a:off x="640080" y="3566160"/>
            <a:ext cx="5120640" cy="512064"/>
          </a:xfrm>
          <a:prstGeom prst="roundRect">
            <a:avLst>
              <a:gd name="adj" fmla="val 18000"/>
            </a:avLst>
          </a:prstGeom>
          <a:solidFill>
            <a:srgbClr val="F4F8FB"/>
          </a:solidFill>
          <a:ln/>
        </p:spPr>
      </p:sp>
      <p:sp>
        <p:nvSpPr>
          <p:cNvPr id="13" name="Ellipse"/>
          <p:cNvSpPr/>
          <p:nvPr/>
        </p:nvSpPr>
        <p:spPr>
          <a:xfrm>
            <a:off x="786384" y="373989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1097280" y="356616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Management</a:t>
            </a:r>
            <a:endParaRPr lang="en-US" sz="1300" dirty="0"/>
          </a:p>
        </p:txBody>
      </p:sp>
      <p:sp>
        <p:nvSpPr>
          <p:cNvPr id="15" name="Shape"/>
          <p:cNvSpPr/>
          <p:nvPr/>
        </p:nvSpPr>
        <p:spPr>
          <a:xfrm>
            <a:off x="640080" y="4206240"/>
            <a:ext cx="5120640" cy="512064"/>
          </a:xfrm>
          <a:prstGeom prst="roundRect">
            <a:avLst>
              <a:gd name="adj" fmla="val 18000"/>
            </a:avLst>
          </a:prstGeom>
          <a:solidFill>
            <a:srgbClr val="F4F8FB"/>
          </a:solidFill>
          <a:ln/>
        </p:spPr>
      </p:sp>
      <p:sp>
        <p:nvSpPr>
          <p:cNvPr id="16" name="Ellipse"/>
          <p:cNvSpPr/>
          <p:nvPr/>
        </p:nvSpPr>
        <p:spPr>
          <a:xfrm>
            <a:off x="786384" y="437997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"/>
          <p:cNvSpPr txBox="1"/>
          <p:nvPr/>
        </p:nvSpPr>
        <p:spPr>
          <a:xfrm>
            <a:off x="1097280" y="420624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Management</a:t>
            </a:r>
            <a:endParaRPr lang="en-US" sz="1300" dirty="0"/>
          </a:p>
        </p:txBody>
      </p:sp>
      <p:sp>
        <p:nvSpPr>
          <p:cNvPr id="18" name="Shape"/>
          <p:cNvSpPr/>
          <p:nvPr/>
        </p:nvSpPr>
        <p:spPr>
          <a:xfrm>
            <a:off x="640080" y="4846320"/>
            <a:ext cx="5120640" cy="512064"/>
          </a:xfrm>
          <a:prstGeom prst="roundRect">
            <a:avLst>
              <a:gd name="adj" fmla="val 18000"/>
            </a:avLst>
          </a:prstGeom>
          <a:solidFill>
            <a:srgbClr val="F4F8FB"/>
          </a:solidFill>
          <a:ln/>
        </p:spPr>
      </p:sp>
      <p:sp>
        <p:nvSpPr>
          <p:cNvPr id="19" name="Ellipse"/>
          <p:cNvSpPr/>
          <p:nvPr/>
        </p:nvSpPr>
        <p:spPr>
          <a:xfrm>
            <a:off x="786384" y="502005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"/>
          <p:cNvSpPr txBox="1"/>
          <p:nvPr/>
        </p:nvSpPr>
        <p:spPr>
          <a:xfrm>
            <a:off x="1097280" y="48463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Receipt</a:t>
            </a:r>
            <a:endParaRPr lang="en-US" sz="1300" dirty="0"/>
          </a:p>
        </p:txBody>
      </p:sp>
      <p:sp>
        <p:nvSpPr>
          <p:cNvPr id="21" name="Shape"/>
          <p:cNvSpPr/>
          <p:nvPr/>
        </p:nvSpPr>
        <p:spPr>
          <a:xfrm>
            <a:off x="640080" y="5486400"/>
            <a:ext cx="5120640" cy="512064"/>
          </a:xfrm>
          <a:prstGeom prst="roundRect">
            <a:avLst>
              <a:gd name="adj" fmla="val 18000"/>
            </a:avLst>
          </a:prstGeom>
          <a:solidFill>
            <a:srgbClr val="F4F8FB"/>
          </a:solidFill>
          <a:ln/>
        </p:spPr>
      </p:sp>
      <p:sp>
        <p:nvSpPr>
          <p:cNvPr id="22" name="Ellipse"/>
          <p:cNvSpPr/>
          <p:nvPr/>
        </p:nvSpPr>
        <p:spPr>
          <a:xfrm>
            <a:off x="786384" y="566013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"/>
          <p:cNvSpPr txBox="1"/>
          <p:nvPr/>
        </p:nvSpPr>
        <p:spPr>
          <a:xfrm>
            <a:off x="1097280" y="548640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</a:t>
            </a:r>
            <a:endParaRPr lang="en-US" sz="1300" dirty="0"/>
          </a:p>
        </p:txBody>
      </p:sp>
      <p:sp>
        <p:nvSpPr>
          <p:cNvPr id="24" name="Shape"/>
          <p:cNvSpPr/>
          <p:nvPr/>
        </p:nvSpPr>
        <p:spPr>
          <a:xfrm>
            <a:off x="640080" y="6126480"/>
            <a:ext cx="5120640" cy="512064"/>
          </a:xfrm>
          <a:prstGeom prst="roundRect">
            <a:avLst>
              <a:gd name="adj" fmla="val 18000"/>
            </a:avLst>
          </a:prstGeom>
          <a:solidFill>
            <a:srgbClr val="F4F8FB"/>
          </a:solidFill>
          <a:ln/>
        </p:spPr>
      </p:sp>
      <p:sp>
        <p:nvSpPr>
          <p:cNvPr id="25" name="Ellipse"/>
          <p:cNvSpPr/>
          <p:nvPr/>
        </p:nvSpPr>
        <p:spPr>
          <a:xfrm>
            <a:off x="786384" y="630021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"/>
          <p:cNvSpPr txBox="1"/>
          <p:nvPr/>
        </p:nvSpPr>
        <p:spPr>
          <a:xfrm>
            <a:off x="1097280" y="612648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7" name="Text"/>
          <p:cNvSpPr txBox="1"/>
          <p:nvPr/>
        </p:nvSpPr>
        <p:spPr>
          <a:xfrm>
            <a:off x="612648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150" dirty="0"/>
          </a:p>
        </p:txBody>
      </p:sp>
      <p:sp>
        <p:nvSpPr>
          <p:cNvPr id="28" name="Shape"/>
          <p:cNvSpPr/>
          <p:nvPr/>
        </p:nvSpPr>
        <p:spPr>
          <a:xfrm>
            <a:off x="6126480" y="228600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21295C"/>
          </a:solidFill>
          <a:ln/>
        </p:spPr>
      </p:sp>
      <p:sp>
        <p:nvSpPr>
          <p:cNvPr id="29" name="Ellipse"/>
          <p:cNvSpPr/>
          <p:nvPr/>
        </p:nvSpPr>
        <p:spPr>
          <a:xfrm>
            <a:off x="6327648" y="24871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"/>
          <p:cNvSpPr txBox="1"/>
          <p:nvPr/>
        </p:nvSpPr>
        <p:spPr>
          <a:xfrm>
            <a:off x="632764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"/>
          <p:cNvSpPr txBox="1"/>
          <p:nvPr/>
        </p:nvSpPr>
        <p:spPr>
          <a:xfrm>
            <a:off x="7040880" y="24048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Subscribe</a:t>
            </a:r>
            <a:endParaRPr lang="en-US" sz="1350" dirty="0"/>
          </a:p>
        </p:txBody>
      </p:sp>
      <p:sp>
        <p:nvSpPr>
          <p:cNvPr id="32" name="Text"/>
          <p:cNvSpPr txBox="1"/>
          <p:nvPr/>
        </p:nvSpPr>
        <p:spPr>
          <a:xfrm>
            <a:off x="7040880" y="27432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register customers, create subscriptions.</a:t>
            </a:r>
            <a:endParaRPr lang="en-US" sz="1000" dirty="0"/>
          </a:p>
        </p:txBody>
      </p:sp>
      <p:sp>
        <p:nvSpPr>
          <p:cNvPr id="33" name="Shape"/>
          <p:cNvSpPr/>
          <p:nvPr/>
        </p:nvSpPr>
        <p:spPr>
          <a:xfrm>
            <a:off x="6126480" y="33832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</p:spPr>
      </p:sp>
      <p:sp>
        <p:nvSpPr>
          <p:cNvPr id="34" name="Ellipse"/>
          <p:cNvSpPr/>
          <p:nvPr/>
        </p:nvSpPr>
        <p:spPr>
          <a:xfrm>
            <a:off x="6327648" y="35844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6327648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Text"/>
          <p:cNvSpPr txBox="1"/>
          <p:nvPr/>
        </p:nvSpPr>
        <p:spPr>
          <a:xfrm>
            <a:off x="7040880" y="35021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Deliver</a:t>
            </a:r>
            <a:endParaRPr lang="en-US" sz="1350" dirty="0"/>
          </a:p>
        </p:txBody>
      </p:sp>
      <p:sp>
        <p:nvSpPr>
          <p:cNvPr id="37" name="Text"/>
          <p:cNvSpPr txBox="1"/>
          <p:nvPr/>
        </p:nvSpPr>
        <p:spPr>
          <a:xfrm>
            <a:off x="7040880" y="3840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drivers &amp; containers, update delivery status.</a:t>
            </a:r>
            <a:endParaRPr lang="en-US" sz="1000" dirty="0"/>
          </a:p>
        </p:txBody>
      </p:sp>
      <p:sp>
        <p:nvSpPr>
          <p:cNvPr id="38" name="Shape"/>
          <p:cNvSpPr/>
          <p:nvPr/>
        </p:nvSpPr>
        <p:spPr>
          <a:xfrm>
            <a:off x="6126480" y="448056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21295C"/>
          </a:solidFill>
          <a:ln/>
        </p:spPr>
      </p:sp>
      <p:sp>
        <p:nvSpPr>
          <p:cNvPr id="39" name="Ellipse"/>
          <p:cNvSpPr/>
          <p:nvPr/>
        </p:nvSpPr>
        <p:spPr>
          <a:xfrm>
            <a:off x="6327648" y="46817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"/>
          <p:cNvSpPr txBox="1"/>
          <p:nvPr/>
        </p:nvSpPr>
        <p:spPr>
          <a:xfrm>
            <a:off x="6327648" y="4681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"/>
          <p:cNvSpPr txBox="1"/>
          <p:nvPr/>
        </p:nvSpPr>
        <p:spPr>
          <a:xfrm>
            <a:off x="7040880" y="45994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Inspect</a:t>
            </a:r>
            <a:endParaRPr lang="en-US" sz="1350" dirty="0"/>
          </a:p>
        </p:txBody>
      </p:sp>
      <p:sp>
        <p:nvSpPr>
          <p:cNvPr id="42" name="Text"/>
          <p:cNvSpPr txBox="1"/>
          <p:nvPr/>
        </p:nvSpPr>
        <p:spPr>
          <a:xfrm>
            <a:off x="7040880" y="49377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returns, check condition, update status.</a:t>
            </a:r>
            <a:endParaRPr lang="en-US" sz="1000" dirty="0"/>
          </a:p>
        </p:txBody>
      </p:sp>
      <p:sp>
        <p:nvSpPr>
          <p:cNvPr id="43" name="Shape"/>
          <p:cNvSpPr/>
          <p:nvPr/>
        </p:nvSpPr>
        <p:spPr>
          <a:xfrm>
            <a:off x="6126480" y="557784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</p:spPr>
      </p:sp>
      <p:sp>
        <p:nvSpPr>
          <p:cNvPr id="44" name="Ellipse"/>
          <p:cNvSpPr/>
          <p:nvPr/>
        </p:nvSpPr>
        <p:spPr>
          <a:xfrm>
            <a:off x="6327648" y="577900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"/>
          <p:cNvSpPr txBox="1"/>
          <p:nvPr/>
        </p:nvSpPr>
        <p:spPr>
          <a:xfrm>
            <a:off x="6327648" y="5779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6" name="Text"/>
          <p:cNvSpPr txBox="1"/>
          <p:nvPr/>
        </p:nvSpPr>
        <p:spPr>
          <a:xfrm>
            <a:off x="7040880" y="56967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&amp; Report</a:t>
            </a:r>
            <a:endParaRPr lang="en-US" sz="1350" dirty="0"/>
          </a:p>
        </p:txBody>
      </p:sp>
      <p:sp>
        <p:nvSpPr>
          <p:cNvPr id="47" name="Text"/>
          <p:cNvSpPr txBox="1"/>
          <p:nvPr/>
        </p:nvSpPr>
        <p:spPr>
          <a:xfrm>
            <a:off x="7040880" y="60350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payments, balances, generate reports.</a:t>
            </a:r>
            <a:endParaRPr lang="en-US" sz="1000" dirty="0"/>
          </a:p>
        </p:txBody>
      </p:sp>
      <p:sp>
        <p:nvSpPr>
          <p:cNvPr id="48" name="Text"/>
          <p:cNvSpPr txBox="1"/>
          <p:nvPr/>
        </p:nvSpPr>
        <p:spPr>
          <a:xfrm>
            <a:off x="112928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3D49FC0-F68F-BEEF-D112-546DD1D59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6" name="Shape 2">
            <a:extLst>
              <a:ext uri="{FF2B5EF4-FFF2-40B4-BE49-F238E27FC236}">
                <a16:creationId xmlns:a16="http://schemas.microsoft.com/office/drawing/2014/main" id="{B0FAE4CF-523E-4C3D-931E-3B7D25F2F16E}"/>
              </a:ext>
            </a:extLst>
          </p:cNvPr>
          <p:cNvSpPr/>
          <p:nvPr/>
        </p:nvSpPr>
        <p:spPr>
          <a:xfrm>
            <a:off x="375920" y="1344168"/>
            <a:ext cx="11538712" cy="4828032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blurRad="127000" dist="38100" dir="5400000" algn="bl" rotWithShape="0">
              <a:srgbClr val="1C7293">
                <a:alpha val="18000"/>
              </a:srgbClr>
            </a:outerShdw>
          </a:effectLst>
        </p:spPr>
      </p:sp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RUN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Console Demonstration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EB7B256-C9C0-DF38-EB44-FCBB98AE4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39416"/>
            <a:ext cx="2712720" cy="325357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5D9ED4A-1BF0-3613-1682-A3D2ABCEC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249" y="2439415"/>
            <a:ext cx="2598232" cy="325357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E943443-9136-1C60-D378-F89A41208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930" y="2416369"/>
            <a:ext cx="2712720" cy="327661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911BFF9-BC35-9CBE-5DB5-65EEC05EE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0099" y="2408410"/>
            <a:ext cx="2422782" cy="327661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81AD6E5-8869-F923-F851-9A1697D2108C}"/>
              </a:ext>
            </a:extLst>
          </p:cNvPr>
          <p:cNvSpPr txBox="1"/>
          <p:nvPr/>
        </p:nvSpPr>
        <p:spPr>
          <a:xfrm>
            <a:off x="779389" y="1872856"/>
            <a:ext cx="2430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1. Log in the seeded admin account </a:t>
            </a:r>
            <a:endParaRPr lang="en-PH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45D15E-9392-F22D-5637-1266A2CB9242}"/>
              </a:ext>
            </a:extLst>
          </p:cNvPr>
          <p:cNvSpPr txBox="1"/>
          <p:nvPr/>
        </p:nvSpPr>
        <p:spPr>
          <a:xfrm>
            <a:off x="3664045" y="1702580"/>
            <a:ext cx="2326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 Go to customer management to register a customer because it doesn’t have a seeded customer.</a:t>
            </a:r>
            <a:endParaRPr lang="en-PH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4F72AE-6151-387E-9E82-C5C865B580BE}"/>
              </a:ext>
            </a:extLst>
          </p:cNvPr>
          <p:cNvSpPr txBox="1"/>
          <p:nvPr/>
        </p:nvSpPr>
        <p:spPr>
          <a:xfrm>
            <a:off x="7659847" y="1636776"/>
            <a:ext cx="2709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Then go to subscription management to create subscription to the customer. Afterwards go back to the main menu. </a:t>
            </a:r>
            <a:endParaRPr lang="en-PH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90620-0202-4901-2B0F-159C3859B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32A6647-CB4D-C8C3-23CF-501052C2F8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13F5DC9B-C634-5985-FDE4-C76237E1D45C}"/>
              </a:ext>
            </a:extLst>
          </p:cNvPr>
          <p:cNvSpPr/>
          <p:nvPr/>
        </p:nvSpPr>
        <p:spPr>
          <a:xfrm>
            <a:off x="8412622" y="284479"/>
            <a:ext cx="3444098" cy="6217105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blurRad="127000" dist="38100" dir="5400000" algn="bl" rotWithShape="0">
              <a:srgbClr val="1C7293">
                <a:alpha val="18000"/>
              </a:srgbClr>
            </a:outerShdw>
          </a:effectLst>
        </p:spPr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8B350FD-3936-D52B-89EE-316C4460C015}"/>
              </a:ext>
            </a:extLst>
          </p:cNvPr>
          <p:cNvSpPr/>
          <p:nvPr/>
        </p:nvSpPr>
        <p:spPr>
          <a:xfrm>
            <a:off x="5506719" y="962488"/>
            <a:ext cx="5204067" cy="486224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blurRad="127000" dist="38100" dir="5400000" algn="bl" rotWithShape="0">
              <a:srgbClr val="1C7293">
                <a:alpha val="18000"/>
              </a:srgbClr>
            </a:outerShdw>
          </a:effectLst>
        </p:spPr>
        <p:txBody>
          <a:bodyPr/>
          <a:lstStyle/>
          <a:p>
            <a:endParaRPr lang="en-PH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C2CC4EAD-B2AF-45A8-6C80-1CEE6FEC949F}"/>
              </a:ext>
            </a:extLst>
          </p:cNvPr>
          <p:cNvSpPr/>
          <p:nvPr/>
        </p:nvSpPr>
        <p:spPr>
          <a:xfrm>
            <a:off x="335280" y="1344168"/>
            <a:ext cx="549042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blurRad="127000" dist="38100" dir="5400000" algn="bl" rotWithShape="0">
              <a:srgbClr val="1C7293">
                <a:alpha val="18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34DF987-6C46-AB29-0D10-273E17283583}"/>
              </a:ext>
            </a:extLst>
          </p:cNvPr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RUN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C9A86F-E086-0B9B-7FDB-7E267B86E13B}"/>
              </a:ext>
            </a:extLst>
          </p:cNvPr>
          <p:cNvSpPr txBox="1"/>
          <p:nvPr/>
        </p:nvSpPr>
        <p:spPr>
          <a:xfrm>
            <a:off x="64008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Console Demonstration</a:t>
            </a:r>
            <a:endParaRPr lang="en-US" sz="2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D3B56E4-F572-27B7-73A8-8A5CD5450E38}"/>
              </a:ext>
            </a:extLst>
          </p:cNvPr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936733-DD44-FE78-0E88-79924F763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427" y="2189476"/>
            <a:ext cx="2519680" cy="3253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E8AA4D-4124-E551-BD85-49CB63CE4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775" y="2194560"/>
            <a:ext cx="2484778" cy="3253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56F7C4-CAFF-5FA1-FD65-8A8F170E9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0480" y="862997"/>
            <a:ext cx="2675200" cy="32535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572A0F-834B-6541-7BCE-88A301AC73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0480" y="4045451"/>
            <a:ext cx="2675200" cy="2192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D6868F-B5AE-C425-A9D0-F78CF45A322B}"/>
              </a:ext>
            </a:extLst>
          </p:cNvPr>
          <p:cNvSpPr txBox="1"/>
          <p:nvPr/>
        </p:nvSpPr>
        <p:spPr>
          <a:xfrm>
            <a:off x="1642987" y="1454118"/>
            <a:ext cx="323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Go to delivery management  to schedule delivery and assigned driver to deliver the container.</a:t>
            </a:r>
            <a:endParaRPr lang="en-PH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13BF8A-70E5-990F-5564-BF842D817EDC}"/>
              </a:ext>
            </a:extLst>
          </p:cNvPr>
          <p:cNvSpPr txBox="1"/>
          <p:nvPr/>
        </p:nvSpPr>
        <p:spPr>
          <a:xfrm>
            <a:off x="5825706" y="1123022"/>
            <a:ext cx="2535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Back to the main menu and go to container management to choose a container  by ID and the customer ID whom to deliver the container and as well as the subscription ID.</a:t>
            </a:r>
            <a:endParaRPr lang="en-PH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852C0F-B5FC-75B7-B848-59215201665B}"/>
              </a:ext>
            </a:extLst>
          </p:cNvPr>
          <p:cNvSpPr txBox="1"/>
          <p:nvPr/>
        </p:nvSpPr>
        <p:spPr>
          <a:xfrm>
            <a:off x="8480481" y="356415"/>
            <a:ext cx="267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6. Go to the main menu again and look for receipt. </a:t>
            </a:r>
            <a:endParaRPr lang="en-PH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789D144-E304-1E51-4661-E5D9017573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189475"/>
            <a:ext cx="2519680" cy="325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02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SD-CATS_Pitch_Deck (1)</Template>
  <TotalTime>127</TotalTime>
  <Words>417</Words>
  <Application>Microsoft Office PowerPoint</Application>
  <PresentationFormat>Widescreen</PresentationFormat>
  <Paragraphs>72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Glynbert Baquiran</dc:creator>
  <cp:lastModifiedBy>Glynbert Baquiran</cp:lastModifiedBy>
  <cp:revision>2</cp:revision>
  <dcterms:created xsi:type="dcterms:W3CDTF">2026-09-21T08:11:53Z</dcterms:created>
  <dcterms:modified xsi:type="dcterms:W3CDTF">2026-09-22T08:35:19Z</dcterms:modified>
</cp:coreProperties>
</file>